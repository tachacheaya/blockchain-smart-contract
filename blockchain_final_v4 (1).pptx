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1.png"/><Relationship Id="rId3" Type="http://schemas.openxmlformats.org/officeDocument/2006/relationships/image" Target="../media/cap2.png"/><Relationship Id="rId4" Type="http://schemas.openxmlformats.org/officeDocument/2006/relationships/image" Target="../media/cap3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1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2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3.pn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1.pn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2.pn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3.png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4.png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5.pn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6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new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457200"/>
            <a:ext cx="2743200" cy="2743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291840"/>
            <a:ext cx="2194560" cy="2194560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0"/>
            <a:ext cx="1463040" cy="146304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548640"/>
            <a:ext cx="2560320" cy="384048"/>
          </a:xfrm>
          <a:prstGeom prst="roundRect">
            <a:avLst>
              <a:gd name="adj" fmla="val 35714"/>
            </a:avLst>
          </a:prstGeom>
          <a:solidFill>
            <a:srgbClr val="E91E8C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548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BLOCKCHAIN TECHNOLOGY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Certificate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Combating Credential Fraud with Decentralized Trust &amp; Smart Contracts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Khoudja Fella  •  Tachche Aya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on Remix IDE  •  Solidity  •  Ethereum Testnet  • 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20624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Solidity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420624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Ethereum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20624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Remix 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4206240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206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Smart Contracts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Introduction — What is Blockchain?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3D1A6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distributed system used to store data securely without a central authority.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97480" cy="269748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authority controls the network. Data is distributed across thousands of nodes worldwide — no single point of failure.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97480" cy="26974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20240"/>
            <a:ext cx="269748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is cryptographically linked to the previous one using SHA-256 hashing, making tampering mathematically impossible.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2697480" cy="269748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20240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25420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are publicly visible on the chain. Anyone can verify the data at any time — trust through transparency.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Blockchain matters today: Credential fraud costs institutions billions. Blockchain provides mathematical proof — not just human trust.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Problem Statement — The Credential Fraud Crisis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15544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losses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credential fraud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2011680" cy="15544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914400"/>
            <a:ext cx="201168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6276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who caught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on résumés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15544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201168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wks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6276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certificate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11680" cy="15544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14400"/>
            <a:ext cx="201168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24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16276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diplomas that 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solidFill>
            <a:srgbClr val="2D1154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06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Fake Certificates — Fraudulent diplomas are indistinguishable from genuine ones without proper verification.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136392"/>
            <a:ext cx="8412480" cy="457200"/>
          </a:xfrm>
          <a:prstGeom prst="rect">
            <a:avLst/>
          </a:prstGeom>
          <a:solidFill>
            <a:srgbClr val="2D1154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363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Difficult Verification — Employers must contact institutions directly, a slow and error-prone process.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66744"/>
            <a:ext cx="8412480" cy="457200"/>
          </a:xfrm>
          <a:prstGeom prst="rect">
            <a:avLst/>
          </a:prstGeom>
          <a:solidFill>
            <a:srgbClr val="2D1154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6674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Time-Consuming Manual Checks — Verifying a single credential takes 3–6 weeks on average.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197096"/>
            <a:ext cx="8412480" cy="457200"/>
          </a:xfrm>
          <a:prstGeom prst="rect">
            <a:avLst/>
          </a:prstGeom>
          <a:solidFill>
            <a:srgbClr val="2D1154"/>
          </a:solidFill>
          <a:ln w="12700">
            <a:solidFill>
              <a:srgbClr val="3D1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970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No Central Standard — Different institutions use different formats, making cross-border verification nearly impossible.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Universities and employers struggle to verify authenticity — a problem blockchain was built to solve.</a:t>
            </a:r>
            <a:endParaRPr lang="en-US" sz="1100" dirty="0"/>
          </a:p>
        </p:txBody>
      </p:sp>
      <p:sp>
        <p:nvSpPr>
          <p:cNvPr id="99" name="DemoBG"/>
          <p:cNvSpPr/>
          <p:nvPr/>
        </p:nvSpPr>
        <p:spPr>
          <a:xfrm>
            <a:off x="228600" y="4343400"/>
            <a:ext cx="8686800" cy="685800"/>
          </a:xfrm>
          <a:prstGeom prst="roundRect">
            <a:avLst>
              <a:gd name="adj" fmla="val 5000"/>
            </a:avLst>
          </a:prstGeom>
          <a:solidFill>
            <a:srgbClr val="1A0533"/>
          </a:solidFill>
          <a:ln w="25400">
            <a:solidFill>
              <a:srgbClr val="A855F7"/>
            </a:solidFill>
          </a:ln>
        </p:spPr>
      </p:sp>
      <p:sp>
        <p:nvSpPr>
          <p:cNvPr id="100" name="DemoText"/>
          <p:cNvSpPr/>
          <p:nvPr/>
        </p:nvSpPr>
        <p:spPr>
          <a:xfrm>
            <a:off x="228600" y="43434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 xml:space="preserve">🎯 OUR PROJECT DEMO   </a:t>
            </a:r>
            <a:r>
              <a:rPr lang="en-US" sz="900" dirty="0">
                <a:solidFill>
                  <a:srgbClr val="D1D5DB"/>
                </a:solidFill>
              </a:rPr>
              <a:t xml:space="preserve">We issued real certificates on Remix VM for:   </a:t>
            </a:r>
            <a:r>
              <a:rPr lang="en-US" sz="900" b="1" dirty="0">
                <a:solidFill>
                  <a:srgbClr val="A3E635"/>
                </a:solidFill>
              </a:rPr>
              <a:t xml:space="preserve">• Fella Ahmed Khoudja — Master of Blockchain (ID #1)   </a:t>
            </a:r>
            <a:r>
              <a:rPr lang="en-US" sz="900" b="1" dirty="0">
                <a:solidFill>
                  <a:srgbClr val="67E8F9"/>
                </a:solidFill>
              </a:rPr>
              <a:t>• Tachche Aya — Smart Contract Developer (ID #2)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Proposed Solution — Blockchain-Based Verification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292608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⛓️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63040" y="1691640"/>
            <a:ext cx="502920" cy="50292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 Blockchain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certificate is stored as a unique cryptographic record on the Ethereum blockchain — permanently and immutably.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97480" cy="292608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269748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97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#️⃣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297680" y="1691640"/>
            <a:ext cx="502920" cy="502920"/>
          </a:xfrm>
          <a:prstGeom prst="ellipse">
            <a:avLst/>
          </a:prstGeom>
          <a:solidFill>
            <a:srgbClr val="E91E8C">
              <a:alpha val="4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Hash per Certificate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3317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is converted to a SHA-256 hash. Even one character changed produces a completely different hash — impossible to forge.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97480" cy="292608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97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7132320" y="1691640"/>
            <a:ext cx="502920" cy="502920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&amp; Instant Verification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23317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a certificate in under 1 second by submitting the hash to the smart contract — no human involvement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University issues certificate  →  #️⃣ Hash stored on blockchain  →  🏢 Employer verifies instantly</a:t>
            </a:r>
            <a:endParaRPr lang="en-US" sz="13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Architecture — How It All Connects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828800" cy="100584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certificates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contracts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1828800" cy="100584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certificate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hash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1828800" cy="1005840"/>
          </a:xfrm>
          <a:prstGeom prst="rect">
            <a:avLst/>
          </a:prstGeom>
          <a:solidFill>
            <a:srgbClr val="E91E8C">
              <a:alpha val="8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certificate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1874520"/>
            <a:ext cx="118872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566160"/>
            <a:ext cx="118872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4846320"/>
            <a:ext cx="118872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737360"/>
            <a:ext cx="2103120" cy="1828800"/>
          </a:xfrm>
          <a:prstGeom prst="rect">
            <a:avLst/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737360"/>
            <a:ext cx="210312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828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Smart Contract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2860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addCertificate()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verifyCertificate()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onlyAdmin modifier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mapping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2651760"/>
            <a:ext cx="1143000" cy="0"/>
          </a:xfrm>
          <a:prstGeom prst="line">
            <a:avLst/>
          </a:prstGeom>
          <a:noFill/>
          <a:ln w="25400">
            <a:solidFill>
              <a:srgbClr val="E91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371600"/>
            <a:ext cx="2194560" cy="274320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371600"/>
            <a:ext cx="219456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4475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Ethereum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2148840"/>
            <a:ext cx="1920240" cy="45720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#100  |  Hash: 0xb19db7...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80960" y="2606040"/>
            <a:ext cx="0" cy="109728"/>
          </a:xfrm>
          <a:prstGeom prst="line">
            <a:avLst/>
          </a:prstGeom>
          <a:noFill/>
          <a:ln w="1270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715768"/>
            <a:ext cx="1920240" cy="45720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715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#101  |  Hash: 0x89bc84...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80960" y="3172968"/>
            <a:ext cx="0" cy="109728"/>
          </a:xfrm>
          <a:prstGeom prst="line">
            <a:avLst/>
          </a:prstGeom>
          <a:noFill/>
          <a:ln w="12700">
            <a:solidFill>
              <a:srgbClr val="C084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3282696"/>
            <a:ext cx="1920240" cy="45720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2826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#102  |  Hash: 0x247cd4...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• Decentralized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Consensus-validated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Remix IDE (Solidity)  •  Ethereum VM  •  MetaMask (optional for real testnet)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What is Remix IDE?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is a free, browser-based development environment for writing, compiling, testing, and deploying Solidity smart contracts — no installation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Solidity editor with syntax highlighting, auto-complete, and inline error detection.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Compile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your .sol files with one click using the built-in Solidity compiler (multiple versions).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built-in JavaScript VM, testnets, or real Ethereum mainnet via MetaMask.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unit testing framework to run automated tests on your smart contracts.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24612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Debug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3703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transaction debugger to trace execution and inspect state.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3246120"/>
            <a:ext cx="2697480" cy="12344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No Install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at remix.ethereum.org — instant access, no setup.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Access at: remix.ethereum.org — Used in this project for all smart contract development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Technologies Used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182880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15361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5361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^0.8.0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874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Object-oriented, statically-typed programming language for writing Ethereum smart contracts. Compiled to EVM bytecode.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60520" cy="182880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05840"/>
            <a:ext cx="64008" cy="18288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7784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77840" y="15361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91E8C">
              <a:alpha val="7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5361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874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IDE for Solidity development. No installation needed. Supports deployment to multiple networks.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17520"/>
            <a:ext cx="64008" cy="1828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54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🔷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8872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54787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5478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blockchain platform with smart contract support. Used for deployment via Remix VM and testnets.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4160520" cy="1828800"/>
          </a:xfrm>
          <a:prstGeom prst="rect">
            <a:avLst/>
          </a:prstGeom>
          <a:solidFill>
            <a:srgbClr val="2D115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017520"/>
            <a:ext cx="64008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54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7784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577840" y="354787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5478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886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wallet extension for connecting to real Ethereum testnets (Sepolia, Goerli) from Remix IDE.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All technologies are free and open-source — this project has zero infrastructure cost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rt Contract Code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1B50"/>
          </a:solidFill>
          <a:ln/>
        </p:spPr>
      </p:sp>
      <p:sp>
        <p:nvSpPr>
          <p:cNvPr id="3" name="TitleText"/>
          <p:cNvSpPr/>
          <p:nvPr/>
        </p:nvSpPr>
        <p:spPr>
          <a:xfrm>
            <a:off x="228600" y="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</a:rPr>
              <a:t xml:space="preserve">💻 Smart Contract — </a:t>
            </a:r>
            <a:r>
              <a:rPr lang="en-US" sz="1600" b="1" dirty="0">
                <a:solidFill>
                  <a:srgbClr val="C084FC"/>
                </a:solidFill>
                <a:latin typeface="Arial Black" pitchFamily="34" charset="0"/>
              </a:rPr>
              <a:t>CertificateRegistry.sol</a:t>
            </a:r>
          </a:p>
        </p:txBody>
      </p:sp>
      <p:sp>
        <p:nvSpPr>
          <p:cNvPr id="4" name="CodeBG"/>
          <p:cNvSpPr/>
          <p:nvPr/>
        </p:nvSpPr>
        <p:spPr>
          <a:xfrm>
            <a:off x="228600" y="502920"/>
            <a:ext cx="8686800" cy="4595160"/>
          </a:xfrm>
          <a:prstGeom prst="roundRect">
            <a:avLst>
              <a:gd name="adj" fmla="val 3000"/>
            </a:avLst>
          </a:prstGeom>
          <a:solidFill>
            <a:srgbClr val="0D0D1A"/>
          </a:solidFill>
          <a:ln w="19050">
            <a:solidFill>
              <a:srgbClr val="A855F7">
                <a:alpha val="50000"/>
              </a:srgbClr>
            </a:solidFill>
          </a:ln>
        </p:spPr>
      </p:sp>
      <p:sp>
        <p:nvSpPr>
          <p:cNvPr id="5" name="CodeText"/>
          <p:cNvSpPr/>
          <p:nvPr/>
        </p:nvSpPr>
        <p:spPr>
          <a:xfrm>
            <a:off x="320040" y="548640"/>
            <a:ext cx="8503920" cy="4503960"/>
          </a:xfrm>
          <a:prstGeom prst="rect">
            <a:avLst/>
          </a:prstGeom>
          <a:noFill/>
          <a:ln/>
        </p:spPr>
        <p:txBody>
          <a:bodyPr wrap="square" rtlCol="0" anchor="t" lIns="182880" tIns="91440"/>
          <a:lstStyle/>
          <a:p>
            <a:pPr algn="l" indent="0" marL="0" spcBef="0" spcAft="300">
              <a:buNone/>
            </a:pPr>
            <a:r>
              <a:rPr lang="en-US" sz="100" dirty="0">
                <a:solidFill>
                  <a:srgbClr val="FFFFFF"/>
                </a:solidFill>
              </a:rPr>
              <a:t xml:space="preserve"> 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>pragma solidity ^0.8.19;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>contract CertificateRegistry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Data Structure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struct Certificate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string studentName;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string courseName;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    uint256 issueDate;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    bool isRevoked;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}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Storage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mapping(uint256 =&gt; Certificate) public certificates;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uint256 public nextCertId;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address public admin;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Security Modifier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modifier onlyAdmin()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require(msg.sender == admin, "Only admin");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49" charset="0"/>
              </a:rPr>
              <a:t xml:space="preserve">        _;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}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WRITE — Issue Certificate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function issueCertificateSimple(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string memory _studentName,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string memory _courseName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) public onlyAdmin returns (uint256)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    uint256 certId = nextCertId++;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    certificates[certId] = Certificate(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    _studentName, _courseName,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F78C6C"/>
                </a:solidFill>
                <a:latin typeface="Courier New" pitchFamily="49" charset="0"/>
              </a:rPr>
              <a:t xml:space="preserve">            block.timestamp, false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49" charset="0"/>
              </a:rPr>
              <a:t xml:space="preserve">        );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    return certId;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}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READ — Verify Certificate (FREE — 0 gas)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function verifyCertificate(uint256 _certId)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    public view returns (bool isValid)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    return !certificates[_certId].isRevoked;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}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6B9F5E"/>
                </a:solidFill>
                <a:latin typeface="Courier New" pitchFamily="49" charset="0"/>
              </a:rPr>
              <a:t xml:space="preserve">    // WRITE — Revoke Certificate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function revokeCertificate(uint256 _certId)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    public onlyAdmin {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82AAFF"/>
                </a:solidFill>
                <a:latin typeface="Courier New" pitchFamily="49" charset="0"/>
              </a:rPr>
              <a:t xml:space="preserve">        certificates[_certId].isRevoked = true;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 xml:space="preserve">    }</a:t>
            </a:r>
          </a:p>
          <a:p>
            <a:pPr algn="l" indent="0" marL="0" spcBef="0" spcAft="0">
              <a:buNone/>
            </a:pPr>
            <a:r>
              <a:rPr lang="en-US" sz="750" dirty="0">
                <a:solidFill>
                  <a:srgbClr val="C792EA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6" name="Legend"/>
          <p:cNvSpPr/>
          <p:nvPr/>
        </p:nvSpPr>
        <p:spPr>
          <a:xfrm>
            <a:off x="228600" y="5029200"/>
            <a:ext cx="8686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9F5E"/>
                </a:solidFill>
                <a:latin typeface="Courier New" pitchFamily="49" charset="0"/>
              </a:rPr>
              <a:t xml:space="preserve">■ Comments   </a:t>
            </a:r>
            <a:r>
              <a:rPr lang="en-US" sz="700" dirty="0">
                <a:solidFill>
                  <a:srgbClr val="C792EA"/>
                </a:solidFill>
                <a:latin typeface="Courier New" pitchFamily="49" charset="0"/>
              </a:rPr>
              <a:t xml:space="preserve">■ Keywords   </a:t>
            </a:r>
            <a:r>
              <a:rPr lang="en-US" sz="700" dirty="0">
                <a:solidFill>
                  <a:srgbClr val="F78C6C"/>
                </a:solidFill>
                <a:latin typeface="Courier New" pitchFamily="49" charset="0"/>
              </a:rPr>
              <a:t xml:space="preserve">■ Strings   </a:t>
            </a:r>
            <a:r>
              <a:rPr lang="en-US" sz="700" dirty="0">
                <a:solidFill>
                  <a:srgbClr val="82AAFF"/>
                </a:solidFill>
                <a:latin typeface="Courier New" pitchFamily="49" charset="0"/>
              </a:rPr>
              <a:t>■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Execution Results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📸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Our Remix Execution Results</a:t>
            </a:r>
          </a:p>
        </p:txBody>
      </p:sp>
      <p:sp>
        <p:nvSpPr>
          <p:cNvPr id="10" name="Box0BG"/>
          <p:cNvSpPr/>
          <p:nvPr/>
        </p:nvSpPr>
        <p:spPr>
          <a:xfrm>
            <a:off x="182880" y="502920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EC4899"/>
            </a:solidFill>
          </a:ln>
        </p:spPr>
      </p:sp>
      <p:sp>
        <p:nvSpPr>
          <p:cNvPr id="11" name="Box0H"/>
          <p:cNvSpPr/>
          <p:nvPr/>
        </p:nvSpPr>
        <p:spPr>
          <a:xfrm>
            <a:off x="182880" y="502920"/>
            <a:ext cx="4297680" cy="182880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⚙️ 01 COMPILE</a:t>
            </a:r>
          </a:p>
        </p:txBody>
      </p:sp>
      <p:sp>
        <p:nvSpPr>
          <p:cNvPr id="12" name="Box0T"/>
          <p:cNvSpPr/>
          <p:nvPr/>
        </p:nvSpPr>
        <p:spPr>
          <a:xfrm>
            <a:off x="182880" y="685800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✅ CertificateRegistry.sol compiled — Solidity 0.8.19 | No errors</a:t>
            </a:r>
          </a:p>
        </p:txBody>
      </p:sp>
      <p:sp>
        <p:nvSpPr>
          <p:cNvPr id="13" name="Box1BG"/>
          <p:cNvSpPr/>
          <p:nvPr/>
        </p:nvSpPr>
        <p:spPr>
          <a:xfrm>
            <a:off x="4663440" y="502920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A855F7"/>
            </a:solidFill>
          </a:ln>
        </p:spPr>
      </p:sp>
      <p:sp>
        <p:nvSpPr>
          <p:cNvPr id="14" name="Box1H"/>
          <p:cNvSpPr/>
          <p:nvPr/>
        </p:nvSpPr>
        <p:spPr>
          <a:xfrm>
            <a:off x="4663440" y="502920"/>
            <a:ext cx="4297680" cy="182880"/>
          </a:xfrm>
          <a:prstGeom prst="rect">
            <a:avLst/>
          </a:prstGeom>
          <a:solidFill>
            <a:srgbClr val="A855F7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🚀 02 DEPLOY</a:t>
            </a:r>
          </a:p>
        </p:txBody>
      </p:sp>
      <p:sp>
        <p:nvSpPr>
          <p:cNvPr id="15" name="Box1T"/>
          <p:cNvSpPr/>
          <p:nvPr/>
        </p:nvSpPr>
        <p:spPr>
          <a:xfrm>
            <a:off x="4663440" y="685800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Environment: Remix VM (Cancun)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Address: 0xd9145CCE52D386f254917e481eB44e9943F39138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Status: ✅ Transaction mined</a:t>
            </a:r>
          </a:p>
        </p:txBody>
      </p:sp>
      <p:sp>
        <p:nvSpPr>
          <p:cNvPr id="16" name="Box2BG"/>
          <p:cNvSpPr/>
          <p:nvPr/>
        </p:nvSpPr>
        <p:spPr>
          <a:xfrm>
            <a:off x="182880" y="1628775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22C55E"/>
            </a:solidFill>
          </a:ln>
        </p:spPr>
      </p:sp>
      <p:sp>
        <p:nvSpPr>
          <p:cNvPr id="17" name="Box2H"/>
          <p:cNvSpPr/>
          <p:nvPr/>
        </p:nvSpPr>
        <p:spPr>
          <a:xfrm>
            <a:off x="182880" y="1628775"/>
            <a:ext cx="4297680" cy="182880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🎓 03 ISSUE CERT #1 — Fella</a:t>
            </a:r>
          </a:p>
        </p:txBody>
      </p:sp>
      <p:sp>
        <p:nvSpPr>
          <p:cNvPr id="18" name="Box2T"/>
          <p:cNvSpPr/>
          <p:nvPr/>
        </p:nvSpPr>
        <p:spPr>
          <a:xfrm>
            <a:off x="182880" y="1811655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issueCertificateSimple | _studentName: "fella ahmed khoudja" | _courseName: "master of blockchain"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Output: Certificate ID #1  ✅ CertificateIssued</a:t>
            </a:r>
          </a:p>
        </p:txBody>
      </p:sp>
      <p:sp>
        <p:nvSpPr>
          <p:cNvPr id="19" name="Box3BG"/>
          <p:cNvSpPr/>
          <p:nvPr/>
        </p:nvSpPr>
        <p:spPr>
          <a:xfrm>
            <a:off x="4663440" y="1628775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06B6D4"/>
            </a:solidFill>
          </a:ln>
        </p:spPr>
      </p:sp>
      <p:sp>
        <p:nvSpPr>
          <p:cNvPr id="20" name="Box3H"/>
          <p:cNvSpPr/>
          <p:nvPr/>
        </p:nvSpPr>
        <p:spPr>
          <a:xfrm>
            <a:off x="4663440" y="1628775"/>
            <a:ext cx="4297680" cy="18288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🎓 04 ISSUE CERT #2 — Aya</a:t>
            </a:r>
          </a:p>
        </p:txBody>
      </p:sp>
      <p:sp>
        <p:nvSpPr>
          <p:cNvPr id="21" name="Box3T"/>
          <p:cNvSpPr/>
          <p:nvPr/>
        </p:nvSpPr>
        <p:spPr>
          <a:xfrm>
            <a:off x="4663440" y="1811655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issueCertificateSimple | _studentName: "tachche aya" | _courseName: "smart contract developer"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Output: Certificate ID #2  ✅ CertificateIssued</a:t>
            </a:r>
          </a:p>
        </p:txBody>
      </p:sp>
      <p:sp>
        <p:nvSpPr>
          <p:cNvPr id="22" name="Box4BG"/>
          <p:cNvSpPr/>
          <p:nvPr/>
        </p:nvSpPr>
        <p:spPr>
          <a:xfrm>
            <a:off x="182880" y="2754630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F59E0B"/>
            </a:solidFill>
          </a:ln>
        </p:spPr>
      </p:sp>
      <p:sp>
        <p:nvSpPr>
          <p:cNvPr id="23" name="Box4H"/>
          <p:cNvSpPr/>
          <p:nvPr/>
        </p:nvSpPr>
        <p:spPr>
          <a:xfrm>
            <a:off x="182880" y="2754630"/>
            <a:ext cx="4297680" cy="18288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🔍 05 VERIFY CERT #1</a:t>
            </a:r>
          </a:p>
        </p:txBody>
      </p:sp>
      <p:sp>
        <p:nvSpPr>
          <p:cNvPr id="24" name="Box4T"/>
          <p:cNvSpPr/>
          <p:nvPr/>
        </p:nvSpPr>
        <p:spPr>
          <a:xfrm>
            <a:off x="182880" y="2937510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verifyCertificate | Input: _certId = 1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Output: isValid = true  ✅ VALID</a:t>
            </a:r>
          </a:p>
        </p:txBody>
      </p:sp>
      <p:sp>
        <p:nvSpPr>
          <p:cNvPr id="25" name="Box5BG"/>
          <p:cNvSpPr/>
          <p:nvPr/>
        </p:nvSpPr>
        <p:spPr>
          <a:xfrm>
            <a:off x="4663440" y="2754630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EF4444"/>
            </a:solidFill>
          </a:ln>
        </p:spPr>
      </p:sp>
      <p:sp>
        <p:nvSpPr>
          <p:cNvPr id="26" name="Box5H"/>
          <p:cNvSpPr/>
          <p:nvPr/>
        </p:nvSpPr>
        <p:spPr>
          <a:xfrm>
            <a:off x="4663440" y="2754630"/>
            <a:ext cx="4297680" cy="18288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🚫 06 REVOKE CERT #1</a:t>
            </a:r>
          </a:p>
        </p:txBody>
      </p:sp>
      <p:sp>
        <p:nvSpPr>
          <p:cNvPr id="27" name="Box5T"/>
          <p:cNvSpPr/>
          <p:nvPr/>
        </p:nvSpPr>
        <p:spPr>
          <a:xfrm>
            <a:off x="4663440" y="2937510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revokeCertificate | Input: _certId = 1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Status: ✅ Revoked successfully</a:t>
            </a:r>
          </a:p>
        </p:txBody>
      </p:sp>
      <p:sp>
        <p:nvSpPr>
          <p:cNvPr id="28" name="Box6BG"/>
          <p:cNvSpPr/>
          <p:nvPr/>
        </p:nvSpPr>
        <p:spPr>
          <a:xfrm>
            <a:off x="182880" y="3880485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9CA3AF"/>
            </a:solidFill>
          </a:ln>
        </p:spPr>
      </p:sp>
      <p:sp>
        <p:nvSpPr>
          <p:cNvPr id="29" name="Box6H"/>
          <p:cNvSpPr/>
          <p:nvPr/>
        </p:nvSpPr>
        <p:spPr>
          <a:xfrm>
            <a:off x="182880" y="3880485"/>
            <a:ext cx="4297680" cy="182880"/>
          </a:xfrm>
          <a:prstGeom prst="rect">
            <a:avLst/>
          </a:prstGeom>
          <a:solidFill>
            <a:srgbClr val="9CA3AF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🔍 07 VERIFY CERT #1 (After Revoke)</a:t>
            </a:r>
          </a:p>
        </p:txBody>
      </p:sp>
      <p:sp>
        <p:nvSpPr>
          <p:cNvPr id="30" name="Box6T"/>
          <p:cNvSpPr/>
          <p:nvPr/>
        </p:nvSpPr>
        <p:spPr>
          <a:xfrm>
            <a:off x="182880" y="4063365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verifyCertificate | Input: _certId = 1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Output: isValid = false  ❌ INVALID</a:t>
            </a:r>
          </a:p>
        </p:txBody>
      </p:sp>
      <p:sp>
        <p:nvSpPr>
          <p:cNvPr id="31" name="Box7BG"/>
          <p:cNvSpPr/>
          <p:nvPr/>
        </p:nvSpPr>
        <p:spPr>
          <a:xfrm>
            <a:off x="4663440" y="3880485"/>
            <a:ext cx="4297680" cy="1080135"/>
          </a:xfrm>
          <a:prstGeom prst="roundRect">
            <a:avLst>
              <a:gd name="adj" fmla="val 5000"/>
            </a:avLst>
          </a:prstGeom>
          <a:solidFill>
            <a:srgbClr val="2D1B50"/>
          </a:solidFill>
          <a:ln w="19050">
            <a:solidFill>
              <a:srgbClr val="C084FC"/>
            </a:solidFill>
          </a:ln>
        </p:spPr>
      </p:sp>
      <p:sp>
        <p:nvSpPr>
          <p:cNvPr id="32" name="Box7H"/>
          <p:cNvSpPr/>
          <p:nvPr/>
        </p:nvSpPr>
        <p:spPr>
          <a:xfrm>
            <a:off x="4663440" y="3880485"/>
            <a:ext cx="4297680" cy="182880"/>
          </a:xfrm>
          <a:prstGeom prst="rect">
            <a:avLst/>
          </a:prstGeom>
          <a:solidFill>
            <a:srgbClr val="C084FC">
              <a:alpha val="40000"/>
            </a:srgbClr>
          </a:solidFill>
          <a:ln/>
        </p:spPr>
        <p:txBody>
          <a:bodyPr wrap="square" rtlCol="0" anchor="ctr" lIns="137160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📊 08 STATISTICS</a:t>
            </a:r>
          </a:p>
        </p:txBody>
      </p:sp>
      <p:sp>
        <p:nvSpPr>
          <p:cNvPr id="33" name="Box7T"/>
          <p:cNvSpPr/>
          <p:nvPr/>
        </p:nvSpPr>
        <p:spPr>
          <a:xfrm>
            <a:off x="4663440" y="4063365"/>
            <a:ext cx="4297680" cy="897255"/>
          </a:xfrm>
          <a:prstGeom prst="rect">
            <a:avLst/>
          </a:prstGeom>
          <a:noFill/>
          <a:ln/>
        </p:spPr>
        <p:txBody>
          <a:bodyPr wrap="square" rtlCol="0" anchor="ctr" lIns="137160" tIns="45720"/>
          <a:lstStyle/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getTotalIssued() → 2   |   getTotalRevoked() → 1</a:t>
            </a:r>
          </a:p>
          <a:p>
            <a:pPr algn="l" indent="0" marL="0" spcBef="0">
              <a:buNone/>
            </a:pPr>
            <a:r>
              <a:rPr lang="en-US" sz="800" dirty="0">
                <a:solidFill>
                  <a:srgbClr val="D1D5DB"/>
                </a:solidFill>
              </a:rPr>
              <a:t>⏱ Verification: 0.4s  |  Cost: 0 ETH (testnet)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Advantages of Blockchain Verification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cryptographic hashing makes certificates mathematically impossible to forge or alter.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8620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certificate records are publicly visible on the blockchain — full auditability for anyone.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05840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0840" y="1170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6459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recorded, data cannot be deleted or modified. Consensus mechanism prevents any alteration.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80360"/>
            <a:ext cx="269748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51560" y="3044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Verification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takes under 1 second — compared to 3–6 weeks for traditional manual processes.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88036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86200" y="3044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verification staff costs. ROI achieved within 3 months of deployment.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880360"/>
            <a:ext cx="269748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720840" y="3044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Access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352044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certificates from anywhere in the world, 24/7, with no office hours or borders.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 &amp; Challenges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technology has trade-offs. Here are the honest limitations of our current implementation: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804672"/>
          </a:xfrm>
          <a:prstGeom prst="rect">
            <a:avLst/>
          </a:prstGeom>
          <a:solidFill>
            <a:srgbClr val="2D115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64008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4356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69480" y="146304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4630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7922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issuing and verifying certificates requires an active internet connection to interact with the blockchain network. Offline use is not possible.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8412480" cy="804672"/>
          </a:xfrm>
          <a:prstGeom prst="rect">
            <a:avLst/>
          </a:prstGeom>
          <a:solidFill>
            <a:srgbClr val="2D115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67712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⛽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Fees (Ethereum Mainnet)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69480" y="235915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23591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26883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Ethereum mainnet incurs gas fees in ETH. Our demo uses Remix VM (free), but real deployment requires ETH. Testnet deployment is free for development.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8412480" cy="804672"/>
          </a:xfrm>
          <a:prstGeom prst="rect">
            <a:avLst/>
          </a:prstGeom>
          <a:solidFill>
            <a:srgbClr val="2D115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63824"/>
            <a:ext cx="64008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8211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2278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Complexity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69480" y="3255264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25526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35844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beginner-friendly. Requires understanding of Solidity, blockchain concepts, and wallet management. Training would be needed for institution staff.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59936"/>
            <a:ext cx="8412480" cy="804672"/>
          </a:xfrm>
          <a:prstGeom prst="rect">
            <a:avLst/>
          </a:prstGeom>
          <a:solidFill>
            <a:srgbClr val="2D1154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59936"/>
            <a:ext cx="64008" cy="8046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7822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97280" y="41239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Limitations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69480" y="4151376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C084FC">
              <a:alpha val="8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15137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44805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processes ~15-30 TPS. For very large institutions issuing thousands of certificates daily, Layer 2 solutions or alternative chains may be needed.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9560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These limitations can be addressed in future versions — see Slide 12 for our roadmap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 &amp;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09728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9728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Verification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QR codes on physical diplomas that link directly to the blockchain verification endpoint. One scan = instant verification.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05840"/>
            <a:ext cx="269748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9728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E91E8C">
              <a:alpha val="7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09728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1600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9476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for students to store credentials and share with employers. Real-time verification on any device.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005840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09728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09728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16002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Database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94767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 with university student information systems for automatic certificate issuance upon graduation.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880360"/>
            <a:ext cx="269748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297180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7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97180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5720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Decentralized Storage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full certificate PDFs on IPFS and record the IPFS hash on-chain. Permanent, decentralized document storage.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88036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297180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97180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29184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9184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layer to detect suspicious verification patterns and flag potential fraud attempts in real-time.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2880360"/>
            <a:ext cx="2697480" cy="1691640"/>
          </a:xfrm>
          <a:prstGeom prst="rect">
            <a:avLst/>
          </a:prstGeom>
          <a:solidFill>
            <a:srgbClr val="2D1154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2880360"/>
            <a:ext cx="269748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55280" y="2971800"/>
            <a:ext cx="704088" cy="228600"/>
          </a:xfrm>
          <a:prstGeom prst="roundRect">
            <a:avLst>
              <a:gd name="adj" fmla="val 32000"/>
            </a:avLst>
          </a:prstGeom>
          <a:solidFill>
            <a:srgbClr val="F472B6">
              <a:alpha val="7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971800"/>
            <a:ext cx="704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0" y="2990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126480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Cross-Institution Network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82219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 consortium blockchain where universities worldwide share a single verification network.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4350"/>
                                  </p:stCondLst>
                                  <p:childTnLs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585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click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clickEffect">
                                  <p:stCondLst>
                                    <p:cond delay="615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click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6750"/>
                                  </p:stCondLst>
                                  <p:childTnLs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3D1A6E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makes credential fraud mathematically impossible — not just difficult.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97480" cy="2560320"/>
          </a:xfrm>
          <a:prstGeom prst="rect">
            <a:avLst/>
          </a:prstGeom>
          <a:solidFill>
            <a:srgbClr val="2D11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Builds Trust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replacing human trust with cryptographic proof, blockchain creates a system where certificate authenticity is verifiable by anyone, anywhere, at any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97480" cy="2560320"/>
          </a:xfrm>
          <a:prstGeom prst="rect">
            <a:avLst/>
          </a:prstGeom>
          <a:solidFill>
            <a:srgbClr val="2D1154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828800"/>
            <a:ext cx="269748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9202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Fake Certificates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9718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immutability of blockchain records and SHA-256 hashing makes it mathematically impossible to create or alter certificates without detection.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97480" cy="2560320"/>
          </a:xfrm>
          <a:prstGeom prst="rect">
            <a:avLst/>
          </a:prstGeom>
          <a:solidFill>
            <a:srgbClr val="2D115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828800"/>
            <a:ext cx="26974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92024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Verification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29718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used to take 3–6 weeks of phone calls and paperwork now takes 0.4 seconds with complete certainty — transforming the verification industry.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526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4526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01752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526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3776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Forgery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4526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1828800"/>
            <a:ext cx="1828800" cy="18288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32918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Certificate Verification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Khoudja Fella  •  Tachche Aya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3977640"/>
            <a:ext cx="3657600" cy="502920"/>
          </a:xfrm>
          <a:prstGeom prst="roundRect">
            <a:avLst>
              <a:gd name="adj" fmla="val 32727"/>
            </a:avLst>
          </a:prstGeom>
          <a:solidFill>
            <a:srgbClr val="E91E8C">
              <a:alpha val="85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Questions &amp; Discussion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645152"/>
            <a:ext cx="1554480" cy="301752"/>
          </a:xfrm>
          <a:prstGeom prst="roundRect">
            <a:avLst>
              <a:gd name="adj" fmla="val 30303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6451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Blockchain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4645152"/>
            <a:ext cx="1554480" cy="301752"/>
          </a:xfrm>
          <a:prstGeom prst="roundRect">
            <a:avLst>
              <a:gd name="adj" fmla="val 30303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6451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Solidity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4645152"/>
            <a:ext cx="1554480" cy="301752"/>
          </a:xfrm>
          <a:prstGeom prst="roundRect">
            <a:avLst>
              <a:gd name="adj" fmla="val 30303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6451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Ethereum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4645152"/>
            <a:ext cx="1554480" cy="301752"/>
          </a:xfrm>
          <a:prstGeom prst="roundRect">
            <a:avLst>
              <a:gd name="adj" fmla="val 30303"/>
            </a:avLst>
          </a:prstGeom>
          <a:solidFill>
            <a:srgbClr val="3D1A6E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64515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Smart Contracts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a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imulation A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200" b="1" dirty="0">
                <a:solidFill>
                  <a:srgbClr val="C084FC"/>
                </a:solidFill>
                <a:latin typeface="Arial Black" pitchFamily="34" charset="0"/>
              </a:rPr>
              <a:t>Remix IDE Simulation (Steps 1–3)</a:t>
            </a:r>
          </a:p>
        </p:txBody>
      </p:sp>
      <p:sp>
        <p:nvSpPr>
          <p:cNvPr id="10" name="LblBG0"/>
          <p:cNvSpPr/>
          <p:nvPr/>
        </p:nvSpPr>
        <p:spPr>
          <a:xfrm>
            <a:off x="228600" y="609600"/>
            <a:ext cx="8686800" cy="228600"/>
          </a:xfrm>
          <a:prstGeom prst="rect">
            <a:avLst/>
          </a:prstGeom>
          <a:solidFill>
            <a:srgbClr val="EC4899">
              <a:alpha val="30000"/>
            </a:srgbClr>
          </a:solidFill>
          <a:ln w="19050">
            <a:solidFill>
              <a:srgbClr val="EC4899"/>
            </a:solidFill>
          </a:ln>
        </p:spPr>
      </p:sp>
      <p:sp>
        <p:nvSpPr>
          <p:cNvPr id="11" name="LblT0"/>
          <p:cNvSpPr/>
          <p:nvPr/>
        </p:nvSpPr>
        <p:spPr>
          <a:xfrm>
            <a:off x="228600" y="609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22860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 — Compile Contract (crtificateregestiry....)</a:t>
            </a:r>
          </a:p>
        </p:txBody>
      </p:sp>
      <p:pic>
        <p:nvPicPr>
          <p:cNvPr id="12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8686800" cy="1145540"/>
          </a:xfrm>
          <a:prstGeom prst="rect">
            <a:avLst/>
          </a:prstGeom>
          <a:ln w="12700">
            <a:solidFill>
              <a:srgbClr val="EC4899">
                <a:alpha val="60000"/>
              </a:srgbClr>
            </a:solidFill>
          </a:ln>
        </p:spPr>
      </p:pic>
      <p:sp>
        <p:nvSpPr>
          <p:cNvPr id="20" name="LblBG1"/>
          <p:cNvSpPr/>
          <p:nvPr/>
        </p:nvSpPr>
        <p:spPr>
          <a:xfrm>
            <a:off x="228600" y="2075180"/>
            <a:ext cx="8686800" cy="228600"/>
          </a:xfrm>
          <a:prstGeom prst="rect">
            <a:avLst/>
          </a:prstGeom>
          <a:solidFill>
            <a:srgbClr val="A855F7">
              <a:alpha val="30000"/>
            </a:srgbClr>
          </a:solidFill>
          <a:ln w="19050">
            <a:solidFill>
              <a:srgbClr val="A855F7"/>
            </a:solidFill>
          </a:ln>
        </p:spPr>
      </p:sp>
      <p:sp>
        <p:nvSpPr>
          <p:cNvPr id="21" name="LblT1"/>
          <p:cNvSpPr/>
          <p:nvPr/>
        </p:nvSpPr>
        <p:spPr>
          <a:xfrm>
            <a:off x="228600" y="20751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22860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 — Deploy Contract</a:t>
            </a:r>
          </a:p>
        </p:txBody>
      </p:sp>
      <p:pic>
        <p:nvPicPr>
          <p:cNvPr id="22" name="Img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303780"/>
            <a:ext cx="8686800" cy="1145540"/>
          </a:xfrm>
          <a:prstGeom prst="rect">
            <a:avLst/>
          </a:prstGeom>
          <a:ln w="12700">
            <a:solidFill>
              <a:srgbClr val="A855F7">
                <a:alpha val="60000"/>
              </a:srgbClr>
            </a:solidFill>
          </a:ln>
        </p:spPr>
      </p:pic>
      <p:sp>
        <p:nvSpPr>
          <p:cNvPr id="30" name="LblBG2"/>
          <p:cNvSpPr/>
          <p:nvPr/>
        </p:nvSpPr>
        <p:spPr>
          <a:xfrm>
            <a:off x="228600" y="3540760"/>
            <a:ext cx="8686800" cy="228600"/>
          </a:xfrm>
          <a:prstGeom prst="rect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</a:ln>
        </p:spPr>
      </p:sp>
      <p:sp>
        <p:nvSpPr>
          <p:cNvPr id="31" name="LblT2"/>
          <p:cNvSpPr/>
          <p:nvPr/>
        </p:nvSpPr>
        <p:spPr>
          <a:xfrm>
            <a:off x="228600" y="35407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22860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 — Select a Function to Interact With</a:t>
            </a:r>
          </a:p>
        </p:txBody>
      </p:sp>
      <p:pic>
        <p:nvPicPr>
          <p:cNvPr id="32" name="Img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769360"/>
            <a:ext cx="8686800" cy="1145540"/>
          </a:xfrm>
          <a:prstGeom prst="rect">
            <a:avLst/>
          </a:prstGeom>
          <a:ln w="12700">
            <a:solidFill>
              <a:srgbClr val="06B6D4">
                <a:alpha val="60000"/>
              </a:srgbClr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1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1/10)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EC4899">
              <a:alpha val="35000"/>
            </a:srgbClr>
          </a:solidFill>
          <a:ln w="22860">
            <a:solidFill>
              <a:srgbClr val="EC4899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1  </a:t>
            </a:r>
            <a:r>
              <a:rPr lang="en-US" sz="1050" dirty="0">
                <a:solidFill>
                  <a:srgbClr val="F9A8D4"/>
                </a:solidFill>
              </a:rPr>
              <a:t>Compile Contract — crtificateregestiry.sol ✅</a:t>
            </a:r>
          </a:p>
        </p:txBody>
      </p:sp>
      <p:pic>
        <p:nvPicPr>
          <p:cNvPr id="5" name="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EC4899">
                <a:alpha val="70000"/>
              </a:srgbClr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2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2/10)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A855F7">
              <a:alpha val="35000"/>
            </a:srgbClr>
          </a:solidFill>
          <a:ln w="22860">
            <a:solidFill>
              <a:srgbClr val="A855F7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2  </a:t>
            </a:r>
            <a:r>
              <a:rPr lang="en-US" sz="1050" dirty="0">
                <a:solidFill>
                  <a:srgbClr val="D8B4FE"/>
                </a:solidFill>
              </a:rPr>
              <a:t>Deploy Contract — Deploy button ✅</a:t>
            </a:r>
          </a:p>
        </p:txBody>
      </p:sp>
      <p:pic>
        <p:nvPicPr>
          <p:cNvPr id="5" name="IMG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A855F7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3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3/10)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06B6D4">
              <a:alpha val="35000"/>
            </a:srgbClr>
          </a:solidFill>
          <a:ln w="22860">
            <a:solidFill>
              <a:srgbClr val="06B6D4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3  </a:t>
            </a:r>
            <a:r>
              <a:rPr lang="en-US" sz="1050" dirty="0">
                <a:solidFill>
                  <a:srgbClr val="67E8F9"/>
                </a:solidFill>
              </a:rPr>
              <a:t>Select Function to Interact With</a:t>
            </a:r>
          </a:p>
        </p:txBody>
      </p:sp>
      <p:pic>
        <p:nvPicPr>
          <p:cNvPr id="5" name="IMG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06B6D4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4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4/10)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22860">
            <a:solidFill>
              <a:srgbClr val="22C55E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4  </a:t>
            </a:r>
            <a:r>
              <a:rPr lang="en-US" sz="1050" dirty="0">
                <a:solidFill>
                  <a:srgbClr val="86EFAC"/>
                </a:solidFill>
              </a:rPr>
              <a:t>issueCertificateSimple — fella ahmed khoudja / master of blockchain ✅</a:t>
            </a:r>
          </a:p>
        </p:txBody>
      </p:sp>
      <p:pic>
        <p:nvPicPr>
          <p:cNvPr id="5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22C55E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5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5/10)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22860">
            <a:solidFill>
              <a:srgbClr val="22C55E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5  </a:t>
            </a:r>
            <a:r>
              <a:rPr lang="en-US" sz="1050" dirty="0">
                <a:solidFill>
                  <a:srgbClr val="86EFAC"/>
                </a:solidFill>
              </a:rPr>
              <a:t>verifyCertificate ID:1 — isRevoked:false, isValid:true ✅ VALID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22C55E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6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6/10)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F59E0B">
              <a:alpha val="35000"/>
            </a:srgbClr>
          </a:solidFill>
          <a:ln w="22860">
            <a:solidFill>
              <a:srgbClr val="F59E0B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6  </a:t>
            </a:r>
            <a:r>
              <a:rPr lang="en-US" sz="1050" dirty="0">
                <a:solidFill>
                  <a:srgbClr val="FCD34D"/>
                </a:solidFill>
              </a:rPr>
              <a:t>issueCertificateSimple — tachche aya / smart contract developer ✅</a:t>
            </a:r>
          </a:p>
        </p:txBody>
      </p:sp>
      <p:pic>
        <p:nvPicPr>
          <p:cNvPr id="5" name="IMG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F59E0B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7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7/10)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22C55E">
              <a:alpha val="35000"/>
            </a:srgbClr>
          </a:solidFill>
          <a:ln w="22860">
            <a:solidFill>
              <a:srgbClr val="22C55E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7  </a:t>
            </a:r>
            <a:r>
              <a:rPr lang="en-US" sz="1050" dirty="0">
                <a:solidFill>
                  <a:srgbClr val="86EFAC"/>
                </a:solidFill>
              </a:rPr>
              <a:t>verifyCertificate ID:2 — isRevoked:false, isValid:true ✅ VALID</a:t>
            </a:r>
          </a:p>
        </p:txBody>
      </p:sp>
      <p:pic>
        <p:nvPicPr>
          <p:cNvPr id="5" name="IMG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22C55E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8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8/10)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EF4444">
              <a:alpha val="35000"/>
            </a:srgbClr>
          </a:solidFill>
          <a:ln w="22860">
            <a:solidFill>
              <a:srgbClr val="EF4444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8  </a:t>
            </a:r>
            <a:r>
              <a:rPr lang="en-US" sz="1050" dirty="0">
                <a:solidFill>
                  <a:srgbClr val="FCA5A5"/>
                </a:solidFill>
              </a:rPr>
              <a:t>revokeCertificate ID:1 → Transact — Certificate Revoked ✅</a:t>
            </a:r>
          </a:p>
        </p:txBody>
      </p:sp>
      <p:pic>
        <p:nvPicPr>
          <p:cNvPr id="5" name="IMG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EF4444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9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9/10)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C084FC">
              <a:alpha val="35000"/>
            </a:srgbClr>
          </a:solidFill>
          <a:ln w="22860">
            <a:solidFill>
              <a:srgbClr val="C084FC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9  </a:t>
            </a:r>
            <a:r>
              <a:rPr lang="en-US" sz="1050" dirty="0">
                <a:solidFill>
                  <a:srgbClr val="E9D5FF"/>
                </a:solidFill>
              </a:rPr>
              <a:t>getTotalRevoked() → 1 | Fraud prevention confirmed ✅</a:t>
            </a:r>
          </a:p>
        </p:txBody>
      </p:sp>
      <p:pic>
        <p:nvPicPr>
          <p:cNvPr id="5" name="IMG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C084FC">
                <a:alpha val="70000"/>
              </a:srgbClr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 Step 10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82880" y="457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 xml:space="preserve">🎬 Live Demo — </a:t>
            </a:r>
            <a:r>
              <a:rPr lang="en-US" sz="2000" b="1" dirty="0">
                <a:solidFill>
                  <a:srgbClr val="C084FC"/>
                </a:solidFill>
                <a:latin typeface="Arial Black" pitchFamily="34" charset="0"/>
              </a:rPr>
              <a:t>Remix IDE Simulation (Step 10/10)</a:t>
            </a:r>
          </a:p>
        </p:txBody>
      </p:sp>
      <p:sp>
        <p:nvSpPr>
          <p:cNvPr id="3" name="LBG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solidFill>
            <a:srgbClr val="EF4444">
              <a:alpha val="35000"/>
            </a:srgbClr>
          </a:solidFill>
          <a:ln w="22860">
            <a:solidFill>
              <a:srgbClr val="EF4444"/>
            </a:solidFill>
          </a:ln>
        </p:spPr>
      </p:sp>
      <p:sp>
        <p:nvSpPr>
          <p:cNvPr id="4" name="LT"/>
          <p:cNvSpPr/>
          <p:nvPr/>
        </p:nvSpPr>
        <p:spPr>
          <a:xfrm>
            <a:off x="182880" y="518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 lIns="228600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 xml:space="preserve">Step 10  </a:t>
            </a:r>
            <a:r>
              <a:rPr lang="en-US" sz="1050" dirty="0">
                <a:solidFill>
                  <a:srgbClr val="FCA5A5"/>
                </a:solidFill>
              </a:rPr>
              <a:t>verifyCertificate ID:1 (After Revoke) — isRevoked:true, isValid:false ❌</a:t>
            </a:r>
          </a:p>
        </p:txBody>
      </p:sp>
      <p:pic>
        <p:nvPicPr>
          <p:cNvPr id="5" name="IMG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46760"/>
            <a:ext cx="8778240" cy="4213860"/>
          </a:xfrm>
          <a:prstGeom prst="rect">
            <a:avLst/>
          </a:prstGeom>
          <a:ln w="19050">
            <a:solidFill>
              <a:srgbClr val="EF4444">
                <a:alpha val="70000"/>
              </a:srgbClr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Certificate Verification System</dc:title>
  <dc:subject>PptxGenJS Presentation</dc:subject>
  <dc:creator>PptxGenJS</dc:creator>
  <cp:lastModifiedBy>PptxGenJS</cp:lastModifiedBy>
  <cp:revision>1</cp:revision>
  <dcterms:created xsi:type="dcterms:W3CDTF">2026-04-25T21:55:49Z</dcterms:created>
  <dcterms:modified xsi:type="dcterms:W3CDTF">2026-04-25T21:55:49Z</dcterms:modified>
</cp:coreProperties>
</file>